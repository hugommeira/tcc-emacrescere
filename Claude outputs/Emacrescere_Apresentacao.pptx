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al Bold" charset="1" panose="020B0704020202020204"/>
      <p:regular r:id="rId26"/>
    </p:embeddedFont>
    <p:embeddedFont>
      <p:font typeface="Arial" charset="1" panose="020B0604020202020204"/>
      <p:regular r:id="rId27"/>
    </p:embeddedFont>
    <p:embeddedFont>
      <p:font typeface="Lexend Giga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HRBJ7WKKk.mp4" Type="http://schemas.openxmlformats.org/officeDocument/2006/relationships/video"/><Relationship Id="rId4" Target="../media/VAHRBJ7WKKk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90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9827594" cy="16778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27593" cy="16778007"/>
            </a:xfrm>
            <a:custGeom>
              <a:avLst/>
              <a:gdLst/>
              <a:ahLst/>
              <a:cxnLst/>
              <a:rect r="r" b="b" t="t" l="l"/>
              <a:pathLst>
                <a:path h="16778007" w="29827593">
                  <a:moveTo>
                    <a:pt x="0" y="0"/>
                  </a:moveTo>
                  <a:lnTo>
                    <a:pt x="29827593" y="0"/>
                  </a:lnTo>
                  <a:lnTo>
                    <a:pt x="29827593" y="16778007"/>
                  </a:lnTo>
                  <a:lnTo>
                    <a:pt x="0" y="16778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98" r="-9216" b="-459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91901" y="4747975"/>
            <a:ext cx="9167399" cy="82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0"/>
              </a:lnSpc>
            </a:pPr>
            <a:r>
              <a:rPr lang="en-US" b="true" sz="5731">
                <a:solidFill>
                  <a:srgbClr val="292944"/>
                </a:solidFill>
                <a:latin typeface="Arial Bold"/>
                <a:ea typeface="Arial Bold"/>
                <a:cs typeface="Arial Bold"/>
                <a:sym typeface="Arial Bold"/>
              </a:rPr>
              <a:t>Projeto Emacrescere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3660" y="6668095"/>
            <a:ext cx="6088933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Hugo Meira Maia</a:t>
            </a:r>
          </a:p>
          <a:p>
            <a:pPr algn="l">
              <a:lnSpc>
                <a:spcPts val="3394"/>
              </a:lnSpc>
            </a:pPr>
            <a:r>
              <a:rPr lang="en-US" sz="24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Julia Ferreira de Oliveira</a:t>
            </a:r>
          </a:p>
          <a:p>
            <a:pPr algn="l">
              <a:lnSpc>
                <a:spcPts val="3394"/>
              </a:lnSpc>
            </a:pPr>
            <a:r>
              <a:rPr lang="en-US" sz="24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Matheus Fernandes Pedrosa</a:t>
            </a:r>
          </a:p>
          <a:p>
            <a:pPr algn="l">
              <a:lnSpc>
                <a:spcPts val="3394"/>
              </a:lnSpc>
            </a:pPr>
            <a:r>
              <a:rPr lang="en-US" sz="24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Isabela Ferreira Bicalho</a:t>
            </a:r>
          </a:p>
          <a:p>
            <a:pPr algn="l">
              <a:lnSpc>
                <a:spcPts val="3394"/>
              </a:lnSpc>
            </a:pPr>
            <a:r>
              <a:rPr lang="en-US" b="true" sz="246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Carlos Eduardo Teodoro Ferreira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500" t="6653" r="0" b="1653"/>
          <a:stretch>
            <a:fillRect/>
          </a:stretch>
        </p:blipFill>
        <p:spPr>
          <a:xfrm flipH="false" flipV="false" rot="0">
            <a:off x="0" y="0"/>
            <a:ext cx="1944624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787" y="0"/>
            <a:ext cx="18529573" cy="10422903"/>
            <a:chOff x="0" y="0"/>
            <a:chExt cx="24706097" cy="138972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06072" cy="13897229"/>
            </a:xfrm>
            <a:custGeom>
              <a:avLst/>
              <a:gdLst/>
              <a:ahLst/>
              <a:cxnLst/>
              <a:rect r="r" b="b" t="t" l="l"/>
              <a:pathLst>
                <a:path h="13897229" w="24706072">
                  <a:moveTo>
                    <a:pt x="0" y="0"/>
                  </a:moveTo>
                  <a:lnTo>
                    <a:pt x="24706072" y="0"/>
                  </a:lnTo>
                  <a:lnTo>
                    <a:pt x="24706072" y="13897229"/>
                  </a:lnTo>
                  <a:lnTo>
                    <a:pt x="0" y="13897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10452" y="0"/>
            <a:ext cx="5572993" cy="1476000"/>
            <a:chOff x="0" y="0"/>
            <a:chExt cx="7430658" cy="196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30660" cy="1967995"/>
            </a:xfrm>
            <a:custGeom>
              <a:avLst/>
              <a:gdLst/>
              <a:ahLst/>
              <a:cxnLst/>
              <a:rect r="r" b="b" t="t" l="l"/>
              <a:pathLst>
                <a:path h="1967995" w="7430660">
                  <a:moveTo>
                    <a:pt x="0" y="0"/>
                  </a:moveTo>
                  <a:lnTo>
                    <a:pt x="7430660" y="0"/>
                  </a:lnTo>
                  <a:lnTo>
                    <a:pt x="7430660" y="1967995"/>
                  </a:lnTo>
                  <a:lnTo>
                    <a:pt x="0" y="1967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-116715" b="-1094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7430658" cy="191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509621" y="847462"/>
            <a:ext cx="5872192" cy="9439538"/>
            <a:chOff x="0" y="0"/>
            <a:chExt cx="7893797" cy="12689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93848" cy="12689196"/>
            </a:xfrm>
            <a:custGeom>
              <a:avLst/>
              <a:gdLst/>
              <a:ahLst/>
              <a:cxnLst/>
              <a:rect r="r" b="b" t="t" l="l"/>
              <a:pathLst>
                <a:path h="12689196" w="7893848">
                  <a:moveTo>
                    <a:pt x="0" y="0"/>
                  </a:moveTo>
                  <a:lnTo>
                    <a:pt x="7893848" y="0"/>
                  </a:lnTo>
                  <a:lnTo>
                    <a:pt x="7893848" y="12689196"/>
                  </a:lnTo>
                  <a:lnTo>
                    <a:pt x="0" y="12689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82" t="0" r="-358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11996" y="0"/>
            <a:ext cx="1476004" cy="1476004"/>
            <a:chOff x="0" y="0"/>
            <a:chExt cx="1968005" cy="19680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7992" cy="1967992"/>
            </a:xfrm>
            <a:custGeom>
              <a:avLst/>
              <a:gdLst/>
              <a:ahLst/>
              <a:cxnLst/>
              <a:rect r="r" b="b" t="t" l="l"/>
              <a:pathLst>
                <a:path h="1967992" w="1967992">
                  <a:moveTo>
                    <a:pt x="0" y="0"/>
                  </a:moveTo>
                  <a:lnTo>
                    <a:pt x="1967992" y="0"/>
                  </a:lnTo>
                  <a:lnTo>
                    <a:pt x="1967992" y="1967992"/>
                  </a:lnTo>
                  <a:lnTo>
                    <a:pt x="0" y="19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87896" y="3909356"/>
            <a:ext cx="9991649" cy="54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Emacrescere é uma plataforma web de telemedicina voltada ao acompanhamento de pessoas com sobrepeso e obesidade — condições associadas a riscos como diabetes tipo 2 e hipertensão. A proposta é unir tecnologia e saúde para tornar o acompanhamento médico mais acessível.</a:t>
            </a:r>
          </a:p>
          <a:p>
            <a:pPr algn="just">
              <a:lnSpc>
                <a:spcPts val="3959"/>
              </a:lnSpc>
            </a:pPr>
          </a:p>
          <a:p>
            <a:pPr algn="just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paciente entra em uma fila de atendimento on-demand ou agenda com um médico específico, é atendido por chat e vídeo e recebe prontuário e receita digital assinada.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071" y="2169928"/>
            <a:ext cx="4982766" cy="90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  <a:spcBef>
                <a:spcPct val="0"/>
              </a:spcBef>
            </a:pPr>
            <a:r>
              <a:rPr lang="en-US" b="true" sz="5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Emacrescere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1782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28671" y="0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6103397" cy="1987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ESTRUTURA ORGANIZACIONAL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02342" y="0"/>
            <a:ext cx="1476004" cy="1476004"/>
            <a:chOff x="0" y="0"/>
            <a:chExt cx="1968005" cy="19680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7992" cy="1967992"/>
            </a:xfrm>
            <a:custGeom>
              <a:avLst/>
              <a:gdLst/>
              <a:ahLst/>
              <a:cxnLst/>
              <a:rect r="r" b="b" t="t" l="l"/>
              <a:pathLst>
                <a:path h="1967992" w="1967992">
                  <a:moveTo>
                    <a:pt x="0" y="0"/>
                  </a:moveTo>
                  <a:lnTo>
                    <a:pt x="1967992" y="0"/>
                  </a:lnTo>
                  <a:lnTo>
                    <a:pt x="1967992" y="1967992"/>
                  </a:lnTo>
                  <a:lnTo>
                    <a:pt x="0" y="19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72768" y="5143500"/>
            <a:ext cx="5339712" cy="5691387"/>
            <a:chOff x="0" y="0"/>
            <a:chExt cx="12505491" cy="133291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05542" cy="13329033"/>
            </a:xfrm>
            <a:custGeom>
              <a:avLst/>
              <a:gdLst/>
              <a:ahLst/>
              <a:cxnLst/>
              <a:rect r="r" b="b" t="t" l="l"/>
              <a:pathLst>
                <a:path h="13329033" w="12505542">
                  <a:moveTo>
                    <a:pt x="0" y="0"/>
                  </a:moveTo>
                  <a:lnTo>
                    <a:pt x="12505542" y="0"/>
                  </a:lnTo>
                  <a:lnTo>
                    <a:pt x="12505542" y="13329033"/>
                  </a:lnTo>
                  <a:lnTo>
                    <a:pt x="0" y="1332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494" r="0" b="-2049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283" y="4178437"/>
            <a:ext cx="9909372" cy="4616215"/>
            <a:chOff x="0" y="0"/>
            <a:chExt cx="13212496" cy="6154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12445" cy="6154928"/>
            </a:xfrm>
            <a:custGeom>
              <a:avLst/>
              <a:gdLst/>
              <a:ahLst/>
              <a:cxnLst/>
              <a:rect r="r" b="b" t="t" l="l"/>
              <a:pathLst>
                <a:path h="6154928" w="13212445">
                  <a:moveTo>
                    <a:pt x="0" y="0"/>
                  </a:moveTo>
                  <a:lnTo>
                    <a:pt x="13212445" y="0"/>
                  </a:lnTo>
                  <a:lnTo>
                    <a:pt x="13212445" y="6154928"/>
                  </a:lnTo>
                  <a:lnTo>
                    <a:pt x="0" y="6154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75" t="0" r="-1217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996410" y="347513"/>
            <a:ext cx="10833815" cy="780977"/>
            <a:chOff x="0" y="0"/>
            <a:chExt cx="16435794" cy="1184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35800" cy="1184804"/>
            </a:xfrm>
            <a:custGeom>
              <a:avLst/>
              <a:gdLst/>
              <a:ahLst/>
              <a:cxnLst/>
              <a:rect r="r" b="b" t="t" l="l"/>
              <a:pathLst>
                <a:path h="1184804" w="16435800">
                  <a:moveTo>
                    <a:pt x="0" y="0"/>
                  </a:moveTo>
                  <a:lnTo>
                    <a:pt x="16435800" y="0"/>
                  </a:lnTo>
                  <a:lnTo>
                    <a:pt x="16435800" y="1184804"/>
                  </a:lnTo>
                  <a:lnTo>
                    <a:pt x="0" y="1184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697" r="0" b="-2909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435794" cy="121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b="true" sz="37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METODOLOGIA E FERRAMENTAS UTILIZADAS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62035" y="0"/>
            <a:ext cx="1476004" cy="1476004"/>
            <a:chOff x="0" y="0"/>
            <a:chExt cx="1968005" cy="19680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7992" cy="1967992"/>
            </a:xfrm>
            <a:custGeom>
              <a:avLst/>
              <a:gdLst/>
              <a:ahLst/>
              <a:cxnLst/>
              <a:rect r="r" b="b" t="t" l="l"/>
              <a:pathLst>
                <a:path h="1967992" w="1967992">
                  <a:moveTo>
                    <a:pt x="0" y="0"/>
                  </a:moveTo>
                  <a:lnTo>
                    <a:pt x="1967992" y="0"/>
                  </a:lnTo>
                  <a:lnTo>
                    <a:pt x="1967992" y="1967992"/>
                  </a:lnTo>
                  <a:lnTo>
                    <a:pt x="0" y="19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12084" y="1743601"/>
            <a:ext cx="5193335" cy="6799797"/>
            <a:chOff x="0" y="0"/>
            <a:chExt cx="6924446" cy="90663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24421" cy="9066328"/>
            </a:xfrm>
            <a:custGeom>
              <a:avLst/>
              <a:gdLst/>
              <a:ahLst/>
              <a:cxnLst/>
              <a:rect r="r" b="b" t="t" l="l"/>
              <a:pathLst>
                <a:path h="9066328" w="6924421">
                  <a:moveTo>
                    <a:pt x="0" y="0"/>
                  </a:moveTo>
                  <a:lnTo>
                    <a:pt x="6924421" y="0"/>
                  </a:lnTo>
                  <a:lnTo>
                    <a:pt x="6924421" y="9066328"/>
                  </a:lnTo>
                  <a:lnTo>
                    <a:pt x="0" y="9066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46" r="0" b="-144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754689" y="2850033"/>
            <a:ext cx="10367422" cy="4385937"/>
            <a:chOff x="0" y="0"/>
            <a:chExt cx="12013470" cy="50822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13509" cy="5082286"/>
            </a:xfrm>
            <a:custGeom>
              <a:avLst/>
              <a:gdLst/>
              <a:ahLst/>
              <a:cxnLst/>
              <a:rect r="r" b="b" t="t" l="l"/>
              <a:pathLst>
                <a:path h="5082286" w="12013509">
                  <a:moveTo>
                    <a:pt x="0" y="0"/>
                  </a:moveTo>
                  <a:lnTo>
                    <a:pt x="12013509" y="0"/>
                  </a:lnTo>
                  <a:lnTo>
                    <a:pt x="12013509" y="5082286"/>
                  </a:lnTo>
                  <a:lnTo>
                    <a:pt x="0" y="5082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10" t="0" r="-41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86566" y="8581425"/>
            <a:ext cx="4317149" cy="6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Gantt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79826" y="8581425"/>
            <a:ext cx="4317149" cy="6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Kanban(Trello)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64079" y="0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DISPONIBILIZAÇÃO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7804" y="2491210"/>
            <a:ext cx="17703822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2"/>
              </a:lnSpc>
            </a:pPr>
            <a:r>
              <a:rPr lang="en-US" sz="35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plataforma Emacrescere foi construída como um sistema web moderno, usando tecnologias que garantem desempenho e segurança. Ela roda com Next.js, tem suporte a TypeScript, utiliza estilização com TailwindCSS e faz a gestão do banco de dados com Prisma, conectado a um PostgreSQL na nuvem via NeonDB. A autenticação de usuários é feita com NextAuth, e todo o sistema está hospedado na Vercel.</a:t>
            </a:r>
          </a:p>
          <a:p>
            <a:pPr algn="just">
              <a:lnSpc>
                <a:spcPts val="2480"/>
              </a:lnSpc>
            </a:pPr>
          </a:p>
          <a:p>
            <a:pPr algn="just" marL="753871" indent="-376936" lvl="1">
              <a:lnSpc>
                <a:spcPts val="425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Configuração do banco de dados no Neon;</a:t>
            </a:r>
          </a:p>
          <a:p>
            <a:pPr algn="just" marL="753871" indent="-376936" lvl="1">
              <a:lnSpc>
                <a:spcPts val="425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do projeto Next.js na Vercel;</a:t>
            </a:r>
          </a:p>
          <a:p>
            <a:pPr algn="just" marL="753421" indent="-376711" lvl="1">
              <a:lnSpc>
                <a:spcPts val="425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Integração do backend com o banco de dados.</a:t>
            </a:r>
          </a:p>
          <a:p>
            <a:pPr algn="just" marL="439758" indent="-219879" lvl="1">
              <a:lnSpc>
                <a:spcPts val="2480"/>
              </a:lnSpc>
            </a:pPr>
          </a:p>
          <a:p>
            <a:pPr algn="l">
              <a:lnSpc>
                <a:spcPts val="4252"/>
              </a:lnSpc>
            </a:pPr>
            <a:r>
              <a:rPr lang="en-US" sz="35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fase atual o sistema roda nos planos gratuitos de Neon, Vercel e LiveKit. Em operação real, com planos pagos, a infraestrutura custa cerca de R$ 469 por mês — valor detalhado no slide de precificação.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811996" y="-98098"/>
            <a:ext cx="1476004" cy="1476004"/>
            <a:chOff x="0" y="0"/>
            <a:chExt cx="1968005" cy="19680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7992" cy="1967992"/>
            </a:xfrm>
            <a:custGeom>
              <a:avLst/>
              <a:gdLst/>
              <a:ahLst/>
              <a:cxnLst/>
              <a:rect r="r" b="b" t="t" l="l"/>
              <a:pathLst>
                <a:path h="1967992" w="1967992">
                  <a:moveTo>
                    <a:pt x="0" y="0"/>
                  </a:moveTo>
                  <a:lnTo>
                    <a:pt x="1967992" y="0"/>
                  </a:lnTo>
                  <a:lnTo>
                    <a:pt x="1967992" y="1967992"/>
                  </a:lnTo>
                  <a:lnTo>
                    <a:pt x="0" y="19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49191" y="49720"/>
            <a:ext cx="12077548" cy="1476004"/>
            <a:chOff x="0" y="0"/>
            <a:chExt cx="16368598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68601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368601">
                  <a:moveTo>
                    <a:pt x="0" y="0"/>
                  </a:moveTo>
                  <a:lnTo>
                    <a:pt x="16368601" y="0"/>
                  </a:lnTo>
                  <a:lnTo>
                    <a:pt x="16368601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64" r="0" b="-11206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368598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PRECIFICAÇÃO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93150" y="0"/>
            <a:ext cx="1575492" cy="1575492"/>
            <a:chOff x="0" y="0"/>
            <a:chExt cx="1968005" cy="19680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7992" cy="1967992"/>
            </a:xfrm>
            <a:custGeom>
              <a:avLst/>
              <a:gdLst/>
              <a:ahLst/>
              <a:cxnLst/>
              <a:rect r="r" b="b" t="t" l="l"/>
              <a:pathLst>
                <a:path h="1967992" w="1967992">
                  <a:moveTo>
                    <a:pt x="0" y="0"/>
                  </a:moveTo>
                  <a:lnTo>
                    <a:pt x="1967992" y="0"/>
                  </a:lnTo>
                  <a:lnTo>
                    <a:pt x="1967992" y="1967992"/>
                  </a:lnTo>
                  <a:lnTo>
                    <a:pt x="0" y="19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pic>
        <p:nvPicPr>
          <p:cNvPr name="Precificacao" id="90"/>
          <p:cNvPicPr/>
          <p:nvPr/>
        </p:nvPicPr>
        <p:blipFill>
          <a:blip r:embed="rId90"/>
          <a:stretch>
            <a:fillRect/>
          </a:stretch>
        </p:blipFill>
        <p:spPr>
          <a:xfrm>
            <a:off x="944000" y="1780000"/>
            <a:ext cx="16400000" cy="82170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80881" y="99489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CONCEPÇÃO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26824" y="2281352"/>
            <a:ext cx="16834352" cy="686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Minimundo </a:t>
            </a:r>
          </a:p>
          <a:p>
            <a:pPr algn="ctr">
              <a:lnSpc>
                <a:spcPts val="2268"/>
              </a:lnSpc>
            </a:pPr>
          </a:p>
          <a:p>
            <a:pPr algn="just" marL="807871" indent="-403936" lvl="1">
              <a:lnSpc>
                <a:spcPts val="4103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3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ntralizar todas as informações em um único ambiente digital.</a:t>
            </a:r>
          </a:p>
          <a:p>
            <a:pPr algn="just">
              <a:lnSpc>
                <a:spcPts val="4103"/>
              </a:lnSpc>
            </a:pPr>
          </a:p>
          <a:p>
            <a:pPr algn="just" marL="807871" indent="-403936" lvl="1">
              <a:lnSpc>
                <a:spcPts val="4103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Facilitar a gestão do tratamento.</a:t>
            </a:r>
          </a:p>
          <a:p>
            <a:pPr algn="just">
              <a:lnSpc>
                <a:spcPts val="4103"/>
              </a:lnSpc>
            </a:pPr>
          </a:p>
          <a:p>
            <a:pPr algn="just" marL="807871" indent="-403936" lvl="1">
              <a:lnSpc>
                <a:spcPts val="4103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Garantir maior organização dos dados.</a:t>
            </a:r>
          </a:p>
          <a:p>
            <a:pPr algn="just">
              <a:lnSpc>
                <a:spcPts val="4103"/>
              </a:lnSpc>
            </a:pPr>
          </a:p>
          <a:p>
            <a:pPr algn="just" marL="807871" indent="-403936" lvl="1">
              <a:lnSpc>
                <a:spcPts val="4103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Aumentar a segurança das informações.</a:t>
            </a:r>
          </a:p>
          <a:p>
            <a:pPr algn="just">
              <a:lnSpc>
                <a:spcPts val="4103"/>
              </a:lnSpc>
            </a:pPr>
          </a:p>
          <a:p>
            <a:pPr algn="just" marL="808354" indent="-404177" lvl="1">
              <a:lnSpc>
                <a:spcPts val="4103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Oferecer mais praticidade para pacientes e médicos.</a:t>
            </a:r>
          </a:p>
          <a:p>
            <a:pPr algn="just" marL="765810" indent="-382905" lvl="1">
              <a:lnSpc>
                <a:spcPts val="3888"/>
              </a:lnSpc>
            </a:pPr>
          </a:p>
          <a:p>
            <a:pPr algn="just" marL="446723" indent="-223361" lvl="1">
              <a:lnSpc>
                <a:spcPts val="2268"/>
              </a:lnSpc>
            </a:pPr>
          </a:p>
          <a:p>
            <a:pPr algn="just" marL="446723" indent="-223361" lvl="1">
              <a:lnSpc>
                <a:spcPts val="2268"/>
              </a:lnSpc>
            </a:pPr>
          </a:p>
          <a:p>
            <a:pPr algn="l" marL="446723" indent="-223361" lvl="1">
              <a:lnSpc>
                <a:spcPts val="25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614410" y="-98098"/>
            <a:ext cx="1673590" cy="1673590"/>
            <a:chOff x="0" y="0"/>
            <a:chExt cx="2231454" cy="2231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1390" cy="2231390"/>
            </a:xfrm>
            <a:custGeom>
              <a:avLst/>
              <a:gdLst/>
              <a:ahLst/>
              <a:cxnLst/>
              <a:rect r="r" b="b" t="t" l="l"/>
              <a:pathLst>
                <a:path h="2231390" w="2231390">
                  <a:moveTo>
                    <a:pt x="0" y="0"/>
                  </a:moveTo>
                  <a:lnTo>
                    <a:pt x="2231390" y="0"/>
                  </a:lnTo>
                  <a:lnTo>
                    <a:pt x="2231390" y="2231390"/>
                  </a:lnTo>
                  <a:lnTo>
                    <a:pt x="0" y="2231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49191" y="49720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6103397" cy="1929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PROCESSOS E PROCEDIMENTOS DESENVOLVIDOS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833971" y="1959092"/>
            <a:ext cx="9948005" cy="6368815"/>
            <a:chOff x="0" y="0"/>
            <a:chExt cx="13264007" cy="84917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64007" cy="8491728"/>
            </a:xfrm>
            <a:custGeom>
              <a:avLst/>
              <a:gdLst/>
              <a:ahLst/>
              <a:cxnLst/>
              <a:rect r="r" b="b" t="t" l="l"/>
              <a:pathLst>
                <a:path h="8491728" w="13264007">
                  <a:moveTo>
                    <a:pt x="0" y="0"/>
                  </a:moveTo>
                  <a:lnTo>
                    <a:pt x="13264007" y="0"/>
                  </a:lnTo>
                  <a:lnTo>
                    <a:pt x="13264007" y="8491728"/>
                  </a:lnTo>
                  <a:lnTo>
                    <a:pt x="0" y="849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66" r="0" b="-206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06063" y="2744205"/>
            <a:ext cx="7125355" cy="52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Controle de Pacientes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Controle de Médicos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Prontuário Clínico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ocumentos e Exames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Atendimento On-Demand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Comunicação simples e acertiva 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Prescrição Digital assinada (ICP-Brasil)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Controle de Pagamentos</a:t>
            </a:r>
          </a:p>
          <a:p>
            <a:pPr algn="l" marL="743320" indent="-371660" lvl="1">
              <a:lnSpc>
                <a:spcPts val="44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de Auditoria</a:t>
            </a:r>
          </a:p>
          <a:p>
            <a:pPr algn="just" marL="427228" indent="-213614" lvl="1">
              <a:lnSpc>
                <a:spcPts val="2169"/>
              </a:lnSpc>
            </a:pPr>
          </a:p>
          <a:p>
            <a:pPr algn="l" marL="427228" indent="-213614" lvl="1">
              <a:lnSpc>
                <a:spcPts val="241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11475" y="2"/>
            <a:ext cx="11007786" cy="1476000"/>
            <a:chOff x="0" y="0"/>
            <a:chExt cx="14677048" cy="196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77051" cy="1967995"/>
            </a:xfrm>
            <a:custGeom>
              <a:avLst/>
              <a:gdLst/>
              <a:ahLst/>
              <a:cxnLst/>
              <a:rect r="r" b="b" t="t" l="l"/>
              <a:pathLst>
                <a:path h="1967995" w="14677051">
                  <a:moveTo>
                    <a:pt x="0" y="0"/>
                  </a:moveTo>
                  <a:lnTo>
                    <a:pt x="14677051" y="0"/>
                  </a:lnTo>
                  <a:lnTo>
                    <a:pt x="14677051" y="1967995"/>
                  </a:lnTo>
                  <a:lnTo>
                    <a:pt x="0" y="1967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64" r="-11525" b="-1120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4677048" cy="1939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68"/>
                </a:lnSpc>
              </a:pPr>
              <a:r>
                <a:rPr lang="en-US" b="true" sz="4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ALTERNATIVAS E IMPLEMENTAÇÃO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11920" y="0"/>
            <a:ext cx="1476004" cy="1476004"/>
            <a:chOff x="0" y="0"/>
            <a:chExt cx="1968005" cy="19680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7992" cy="1967992"/>
            </a:xfrm>
            <a:custGeom>
              <a:avLst/>
              <a:gdLst/>
              <a:ahLst/>
              <a:cxnLst/>
              <a:rect r="r" b="b" t="t" l="l"/>
              <a:pathLst>
                <a:path h="1967992" w="1967992">
                  <a:moveTo>
                    <a:pt x="0" y="0"/>
                  </a:moveTo>
                  <a:lnTo>
                    <a:pt x="1967992" y="0"/>
                  </a:lnTo>
                  <a:lnTo>
                    <a:pt x="1967992" y="1967992"/>
                  </a:lnTo>
                  <a:lnTo>
                    <a:pt x="0" y="19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20944" y="3364013"/>
            <a:ext cx="14719626" cy="5009314"/>
            <a:chOff x="0" y="0"/>
            <a:chExt cx="19626168" cy="66790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26219" cy="6679050"/>
            </a:xfrm>
            <a:custGeom>
              <a:avLst/>
              <a:gdLst/>
              <a:ahLst/>
              <a:cxnLst/>
              <a:rect r="r" b="b" t="t" l="l"/>
              <a:pathLst>
                <a:path h="6679050" w="19626219">
                  <a:moveTo>
                    <a:pt x="0" y="0"/>
                  </a:moveTo>
                  <a:lnTo>
                    <a:pt x="19626219" y="0"/>
                  </a:lnTo>
                  <a:lnTo>
                    <a:pt x="19626219" y="6679050"/>
                  </a:lnTo>
                  <a:lnTo>
                    <a:pt x="0" y="667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65" r="0" b="-1865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1920944" y="8373300"/>
            <a:ext cx="14719626" cy="2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920944" y="3364013"/>
            <a:ext cx="0" cy="50283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77382" y="49720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AMBIENTE DE USUÁRIO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9526" y="1928432"/>
            <a:ext cx="13767643" cy="222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Recursos requeridos de hardware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Computador, notebook, tablet ou smartphone com acesso à internet.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 com câmera e microfone para realização de videochamadas.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Conexão estável com a internet para comunicação em tempo real.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3295" y="4448886"/>
            <a:ext cx="17348474" cy="265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</a:t>
            </a:r>
            <a:r>
              <a:rPr lang="en-US" b="true" sz="31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ecursos requeridos de software</a:t>
            </a:r>
          </a:p>
          <a:p>
            <a:pPr algn="l" marL="638203" indent="-319102" lvl="1">
              <a:lnSpc>
                <a:spcPts val="4138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operacional compatível com navegação web (Windows, macOS, Linux, Android ou iOS).</a:t>
            </a:r>
          </a:p>
          <a:p>
            <a:pPr algn="l" marL="638203" indent="-319102" lvl="1">
              <a:lnSpc>
                <a:spcPts val="4138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Navegador atualizado com suporte a WebRTC (Google Chrome, Mozilla Firefox, Microsoft Edge ou similares).</a:t>
            </a:r>
          </a:p>
          <a:p>
            <a:pPr algn="l" marL="638203" indent="-319102" lvl="1">
              <a:lnSpc>
                <a:spcPts val="4138"/>
              </a:lnSpc>
              <a:buFont typeface="Arial"/>
              <a:buChar char="•"/>
            </a:pPr>
            <a:r>
              <a:rPr lang="en-US" sz="29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Acesso à internet para utilização das funcionalidades da plataforma.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526" y="7505128"/>
            <a:ext cx="17156013" cy="199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Recursos requeridos de peopleware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Conhecimento básico de navegação na internet.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 de utilização de sistemas com login e senha.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Familiaridade básica com ferramentas de comunicação online, como chat e videochamada.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64311" y="0"/>
            <a:ext cx="12077548" cy="2228402"/>
            <a:chOff x="0" y="0"/>
            <a:chExt cx="16103397" cy="297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2971200"/>
            </a:xfrm>
            <a:custGeom>
              <a:avLst/>
              <a:gdLst/>
              <a:ahLst/>
              <a:cxnLst/>
              <a:rect r="r" b="b" t="t" l="l"/>
              <a:pathLst>
                <a:path h="29712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2971200"/>
                  </a:lnTo>
                  <a:lnTo>
                    <a:pt x="0" y="297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05" r="0" b="-556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292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60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PROBLEMAS E SOLUÇÕES</a:t>
              </a:r>
            </a:p>
            <a:p>
              <a:pPr algn="l">
                <a:lnSpc>
                  <a:spcPts val="7128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325307" y="2619806"/>
          <a:ext cx="15128460" cy="6153319"/>
        </p:xfrm>
        <a:graphic>
          <a:graphicData uri="http://schemas.openxmlformats.org/drawingml/2006/table">
            <a:tbl>
              <a:tblPr/>
              <a:tblGrid>
                <a:gridCol w="7195953"/>
                <a:gridCol w="7932507"/>
              </a:tblGrid>
              <a:tr h="10606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b="true" sz="34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                </a:t>
                      </a:r>
                      <a:r>
                        <a:rPr lang="en-US" b="true" sz="3499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Observações </a:t>
                      </a:r>
                      <a:endParaRPr lang="en-US" sz="1100"/>
                    </a:p>
                  </a:txBody>
                  <a:tcPr marL="82117" marR="82117" marT="82117" marB="82117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b="true" sz="42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         </a:t>
                      </a:r>
                      <a:r>
                        <a:rPr lang="en-US" b="true" sz="4200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Soluções</a:t>
                      </a:r>
                      <a:endParaRPr lang="en-US" sz="1100"/>
                    </a:p>
                  </a:txBody>
                  <a:tcPr marL="82117" marR="82117" marT="82117" marB="82117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3D"/>
                    </a:solidFill>
                  </a:tcPr>
                </a:tc>
              </a:tr>
              <a:tr h="12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Pacientes não conseguem manter acompanhamento contínuo; as informações ficam dispersas.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plataforma centraliza cadastro, peso, IMC, histórico de consultas e documentos clínicos.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</a:tr>
              <a:tr h="12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Médicos não têm um ambiente digital único para atender e acompanhar seus pacientes.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Fila de atendimento, prontuário integrado e evolução de peso no mesmo painel.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</a:tr>
              <a:tr h="12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emissão de receitas é manual e sem padronização conforme as normas da ANVISA.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de medicamentos ANVISA, tipo de receituário automático e PDF assinado (ICP-Brasil).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</a:tr>
              <a:tr h="12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consulta presencial exige deslocamento e longo tempo de espera.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Atendimento on-demand por chat e vídeo, em minutos, sem sair de casa.</a:t>
                      </a:r>
                      <a:endParaRPr lang="en-US" sz="2200"/>
                    </a:p>
                  </a:txBody>
                  <a:tcPr marL="82117" marR="82117" marT="82117" marB="82117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44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6682514" y="-19050"/>
            <a:ext cx="1395822" cy="1395822"/>
            <a:chOff x="0" y="0"/>
            <a:chExt cx="1861096" cy="1861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1058" cy="1861058"/>
            </a:xfrm>
            <a:custGeom>
              <a:avLst/>
              <a:gdLst/>
              <a:ahLst/>
              <a:cxnLst/>
              <a:rect r="r" b="b" t="t" l="l"/>
              <a:pathLst>
                <a:path h="1861058" w="1861058">
                  <a:moveTo>
                    <a:pt x="0" y="0"/>
                  </a:moveTo>
                  <a:lnTo>
                    <a:pt x="1861058" y="0"/>
                  </a:lnTo>
                  <a:lnTo>
                    <a:pt x="1861058" y="1861058"/>
                  </a:lnTo>
                  <a:lnTo>
                    <a:pt x="0" y="1861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021267" y="350501"/>
            <a:ext cx="11894696" cy="180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FATORES CHAVE DE SUCESSO</a:t>
            </a:r>
          </a:p>
          <a:p>
            <a:pPr algn="l">
              <a:lnSpc>
                <a:spcPts val="712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51934" y="3478425"/>
            <a:ext cx="9976352" cy="450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5353" indent="-382676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Fácil acesso a profissionais capacitados;</a:t>
            </a:r>
          </a:p>
          <a:p>
            <a:pPr algn="just" marL="765810" indent="-382905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Acessibilidade de qualquer lugar/plataforma;</a:t>
            </a:r>
          </a:p>
          <a:p>
            <a:pPr algn="just" marL="765810" indent="-382905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Acompanhamento personalizado;</a:t>
            </a:r>
          </a:p>
          <a:p>
            <a:pPr algn="just" marL="765810" indent="-382905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Responsividade;</a:t>
            </a:r>
          </a:p>
          <a:p>
            <a:pPr algn="just" marL="765810" indent="-382905" lvl="1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simultâneo.</a:t>
            </a:r>
          </a:p>
          <a:p>
            <a:pPr algn="l" marL="446723" indent="-223361" lvl="1">
              <a:lnSpc>
                <a:spcPts val="252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54831" y="1643024"/>
            <a:ext cx="8013792" cy="7000923"/>
            <a:chOff x="0" y="0"/>
            <a:chExt cx="10685056" cy="93345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85018" cy="9334627"/>
            </a:xfrm>
            <a:custGeom>
              <a:avLst/>
              <a:gdLst/>
              <a:ahLst/>
              <a:cxnLst/>
              <a:rect r="r" b="b" t="t" l="l"/>
              <a:pathLst>
                <a:path h="9334627" w="10685018">
                  <a:moveTo>
                    <a:pt x="0" y="0"/>
                  </a:moveTo>
                  <a:lnTo>
                    <a:pt x="10685018" y="0"/>
                  </a:lnTo>
                  <a:lnTo>
                    <a:pt x="10685018" y="9334627"/>
                  </a:lnTo>
                  <a:lnTo>
                    <a:pt x="0" y="9334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288" r="0" b="-10288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365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0798" y="99489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REQUISITOS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15126" y="2784148"/>
            <a:ext cx="7222798" cy="166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REQUISITOS DE SEGURANÇA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5126" y="4677413"/>
            <a:ext cx="7222798" cy="481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Senhas com hash bcrypt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Acesso restrito por perfil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HTTPS, CSP e HSTS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Certificado em AES-256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Auditoria de todas as ações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7024" y="2855471"/>
            <a:ext cx="7098601" cy="152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REQUISITOS DE CONFIABILIDADE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1702" y="4677413"/>
            <a:ext cx="7529246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em todas as rotas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 de requisições por rota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Transação no banco para a fila</a:t>
            </a:r>
          </a:p>
          <a:p>
            <a:pPr algn="l" marL="400000" indent="-400000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 resiliente a queda de rede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9972" y="138223"/>
            <a:ext cx="3543148" cy="1299008"/>
            <a:chOff x="0" y="0"/>
            <a:chExt cx="4724197" cy="173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24200" cy="1732017"/>
            </a:xfrm>
            <a:custGeom>
              <a:avLst/>
              <a:gdLst/>
              <a:ahLst/>
              <a:cxnLst/>
              <a:rect r="r" b="b" t="t" l="l"/>
              <a:pathLst>
                <a:path h="1732017" w="4724200">
                  <a:moveTo>
                    <a:pt x="0" y="0"/>
                  </a:moveTo>
                  <a:lnTo>
                    <a:pt x="4724200" y="0"/>
                  </a:lnTo>
                  <a:lnTo>
                    <a:pt x="4724200" y="1732017"/>
                  </a:lnTo>
                  <a:lnTo>
                    <a:pt x="0" y="17320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245" r="-240870" b="-1530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4724197" cy="1684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ATORES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76350" y="2464944"/>
          <a:ext cx="15735300" cy="6793356"/>
        </p:xfrm>
        <a:graphic>
          <a:graphicData uri="http://schemas.openxmlformats.org/drawingml/2006/table">
            <a:tbl>
              <a:tblPr/>
              <a:tblGrid>
                <a:gridCol w="5884280"/>
                <a:gridCol w="4706039"/>
                <a:gridCol w="5144981"/>
              </a:tblGrid>
              <a:tr h="11628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b="true" sz="4200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Pa</a:t>
                      </a:r>
                      <a:r>
                        <a:rPr lang="en-US" b="true" sz="4200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ciente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b="true" sz="4200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Mé</a:t>
                      </a:r>
                      <a:r>
                        <a:rPr lang="en-US" b="true" sz="4200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dico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b="true" sz="4200">
                          <a:solidFill>
                            <a:srgbClr val="F2F2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Administrador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944"/>
                    </a:solidFill>
                  </a:tcPr>
                </a:tc>
              </a:tr>
              <a:tr h="56304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F2F2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3300">
                          <a:solidFill>
                            <a:srgbClr val="F2F2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essoa que busca acompanhamento médico para tratamento de emagrecimento. Realiza cadastro, preenche o formulário de anamnese, participa das consultas via chat, registra peso e IMC, acessa prescrições e histórico de consultas.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F2F2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Profissiona</a:t>
                      </a:r>
                      <a:r>
                        <a:rPr lang="en-US" sz="3300">
                          <a:solidFill>
                            <a:srgbClr val="F2F2E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 de saúde habilitado cadastrado na plataforma. Visualiza os dados e formulário do paciente, realiza a consulta via chat, emite prescrições digitais e acompanha a evolução clínica do paciente.</a:t>
                      </a:r>
                      <a:endParaRPr lang="en-US" sz="1100"/>
                    </a:p>
                    <a:p>
                      <a:pPr algn="ctr">
                        <a:lnSpc>
                          <a:spcPts val="3960"/>
                        </a:lnSpc>
                      </a:pPr>
                    </a:p>
                  </a:txBody>
                  <a:tcPr marL="91425" marR="91425" marT="91425" marB="9142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9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39"/>
                        </a:lnSpc>
                        <a:defRPr/>
                      </a:pPr>
                      <a:r>
                        <a:rPr lang="en-US" sz="36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36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esponsável pela gestão geral da plataforma. Gerencia usuários, médicos, consultas, pagamentos e acessa o painel de auditoria do sistema.</a:t>
                      </a:r>
                      <a:endParaRPr lang="en-US" sz="1100"/>
                    </a:p>
                    <a:p>
                      <a:pPr algn="ctr">
                        <a:lnSpc>
                          <a:spcPts val="5879"/>
                        </a:lnSpc>
                      </a:pPr>
                    </a:p>
                  </a:txBody>
                  <a:tcPr marL="91425" marR="91425" marT="91425" marB="9142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944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6652853" y="-19"/>
            <a:ext cx="1575492" cy="1575492"/>
            <a:chOff x="0" y="0"/>
            <a:chExt cx="2100656" cy="21006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764" y="22977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07674" y="49746"/>
            <a:ext cx="6545428" cy="1476000"/>
            <a:chOff x="0" y="0"/>
            <a:chExt cx="8727237" cy="196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27240" cy="1967995"/>
            </a:xfrm>
            <a:custGeom>
              <a:avLst/>
              <a:gdLst/>
              <a:ahLst/>
              <a:cxnLst/>
              <a:rect r="r" b="b" t="t" l="l"/>
              <a:pathLst>
                <a:path h="1967995" w="8727240">
                  <a:moveTo>
                    <a:pt x="0" y="0"/>
                  </a:moveTo>
                  <a:lnTo>
                    <a:pt x="8727240" y="0"/>
                  </a:lnTo>
                  <a:lnTo>
                    <a:pt x="8727240" y="1967995"/>
                  </a:lnTo>
                  <a:lnTo>
                    <a:pt x="0" y="1967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-84518" b="-1094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8727237" cy="192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CASO DE USO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51059" y="1640000"/>
            <a:ext cx="11985882" cy="8490000"/>
            <a:chOff x="0" y="0"/>
            <a:chExt cx="17741199" cy="227645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41212" cy="22764516"/>
            </a:xfrm>
            <a:custGeom>
              <a:avLst/>
              <a:gdLst/>
              <a:ahLst/>
              <a:cxnLst/>
              <a:rect r="r" b="b" t="t" l="l"/>
              <a:pathLst>
                <a:path h="22764516" w="17741212">
                  <a:moveTo>
                    <a:pt x="0" y="0"/>
                  </a:moveTo>
                  <a:lnTo>
                    <a:pt x="17741212" y="0"/>
                  </a:lnTo>
                  <a:lnTo>
                    <a:pt x="17741212" y="22764516"/>
                  </a:lnTo>
                  <a:lnTo>
                    <a:pt x="0" y="22764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0798" y="99489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66857" y="1640000"/>
            <a:ext cx="14554285" cy="8490000"/>
            <a:chOff x="0" y="0"/>
            <a:chExt cx="33870129" cy="227645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870143" cy="22764516"/>
            </a:xfrm>
            <a:custGeom>
              <a:avLst/>
              <a:gdLst/>
              <a:ahLst/>
              <a:cxnLst/>
              <a:rect r="r" b="b" t="t" l="l"/>
              <a:pathLst>
                <a:path h="22764516" w="33870143">
                  <a:moveTo>
                    <a:pt x="0" y="0"/>
                  </a:moveTo>
                  <a:lnTo>
                    <a:pt x="33870143" y="0"/>
                  </a:lnTo>
                  <a:lnTo>
                    <a:pt x="33870143" y="22764516"/>
                  </a:lnTo>
                  <a:lnTo>
                    <a:pt x="0" y="22764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651" y="-2365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40698" y="49749"/>
            <a:ext cx="12077548" cy="1476004"/>
            <a:chOff x="0" y="0"/>
            <a:chExt cx="16103397" cy="1968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03400" cy="1968000"/>
            </a:xfrm>
            <a:custGeom>
              <a:avLst/>
              <a:gdLst/>
              <a:ahLst/>
              <a:cxnLst/>
              <a:rect r="r" b="b" t="t" l="l"/>
              <a:pathLst>
                <a:path h="1968000" w="16103400">
                  <a:moveTo>
                    <a:pt x="0" y="0"/>
                  </a:moveTo>
                  <a:lnTo>
                    <a:pt x="16103400" y="0"/>
                  </a:lnTo>
                  <a:lnTo>
                    <a:pt x="16103400" y="1968000"/>
                  </a:lnTo>
                  <a:lnTo>
                    <a:pt x="0" y="19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38" r="0" b="-109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103397" cy="192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DIAGRAMA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404282" y="1640000"/>
            <a:ext cx="11479436" cy="8490000"/>
            <a:chOff x="0" y="0"/>
            <a:chExt cx="19065075" cy="11681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65029" cy="11681689"/>
            </a:xfrm>
            <a:custGeom>
              <a:avLst/>
              <a:gdLst/>
              <a:ahLst/>
              <a:cxnLst/>
              <a:rect r="r" b="b" t="t" l="l"/>
              <a:pathLst>
                <a:path h="11681689" w="19065029">
                  <a:moveTo>
                    <a:pt x="0" y="0"/>
                  </a:moveTo>
                  <a:lnTo>
                    <a:pt x="19065029" y="0"/>
                  </a:lnTo>
                  <a:lnTo>
                    <a:pt x="19065029" y="11681689"/>
                  </a:lnTo>
                  <a:lnTo>
                    <a:pt x="0" y="11681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46384" y="-67867"/>
            <a:ext cx="9568558" cy="1711226"/>
            <a:chOff x="0" y="0"/>
            <a:chExt cx="12758077" cy="2281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58078" cy="2281637"/>
            </a:xfrm>
            <a:custGeom>
              <a:avLst/>
              <a:gdLst/>
              <a:ahLst/>
              <a:cxnLst/>
              <a:rect r="r" b="b" t="t" l="l"/>
              <a:pathLst>
                <a:path h="2281637" w="12758078">
                  <a:moveTo>
                    <a:pt x="0" y="0"/>
                  </a:moveTo>
                  <a:lnTo>
                    <a:pt x="12758078" y="0"/>
                  </a:lnTo>
                  <a:lnTo>
                    <a:pt x="12758078" y="2281637"/>
                  </a:lnTo>
                  <a:lnTo>
                    <a:pt x="0" y="2281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66" r="-11458" b="-794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758077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TECNOLOGIAS UTILIZADAS</a:t>
              </a:r>
            </a:p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DESENVOLVIMENTO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00674" y="7017601"/>
            <a:ext cx="1432236" cy="1474861"/>
            <a:chOff x="0" y="0"/>
            <a:chExt cx="1909648" cy="1966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9699" cy="1966468"/>
            </a:xfrm>
            <a:custGeom>
              <a:avLst/>
              <a:gdLst/>
              <a:ahLst/>
              <a:cxnLst/>
              <a:rect r="r" b="b" t="t" l="l"/>
              <a:pathLst>
                <a:path h="1966468" w="1909699">
                  <a:moveTo>
                    <a:pt x="0" y="0"/>
                  </a:moveTo>
                  <a:lnTo>
                    <a:pt x="1909699" y="0"/>
                  </a:lnTo>
                  <a:lnTo>
                    <a:pt x="1909699" y="1966468"/>
                  </a:lnTo>
                  <a:lnTo>
                    <a:pt x="0" y="1966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87" r="2" b="-118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614942" y="2926652"/>
            <a:ext cx="1433084" cy="1472889"/>
            <a:chOff x="0" y="0"/>
            <a:chExt cx="1910779" cy="19638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0715" cy="1963801"/>
            </a:xfrm>
            <a:custGeom>
              <a:avLst/>
              <a:gdLst/>
              <a:ahLst/>
              <a:cxnLst/>
              <a:rect r="r" b="b" t="t" l="l"/>
              <a:pathLst>
                <a:path h="1963801" w="1910715">
                  <a:moveTo>
                    <a:pt x="0" y="0"/>
                  </a:moveTo>
                  <a:lnTo>
                    <a:pt x="1910715" y="0"/>
                  </a:lnTo>
                  <a:lnTo>
                    <a:pt x="1910715" y="1963801"/>
                  </a:lnTo>
                  <a:lnTo>
                    <a:pt x="0" y="1963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89" t="0" r="-1391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80450" y="6785848"/>
            <a:ext cx="1434084" cy="1473508"/>
            <a:chOff x="0" y="0"/>
            <a:chExt cx="1912112" cy="1964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12112" cy="1964690"/>
            </a:xfrm>
            <a:custGeom>
              <a:avLst/>
              <a:gdLst/>
              <a:ahLst/>
              <a:cxnLst/>
              <a:rect r="r" b="b" t="t" l="l"/>
              <a:pathLst>
                <a:path h="1964690" w="1912112">
                  <a:moveTo>
                    <a:pt x="0" y="0"/>
                  </a:moveTo>
                  <a:lnTo>
                    <a:pt x="1912112" y="0"/>
                  </a:lnTo>
                  <a:lnTo>
                    <a:pt x="1912112" y="1964690"/>
                  </a:lnTo>
                  <a:lnTo>
                    <a:pt x="0" y="1964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74" t="0" r="-137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55609" y="4836652"/>
            <a:ext cx="1603162" cy="1603162"/>
            <a:chOff x="0" y="0"/>
            <a:chExt cx="2137550" cy="2137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7537" cy="2137537"/>
            </a:xfrm>
            <a:custGeom>
              <a:avLst/>
              <a:gdLst/>
              <a:ahLst/>
              <a:cxnLst/>
              <a:rect r="r" b="b" t="t" l="l"/>
              <a:pathLst>
                <a:path h="2137537" w="2137537">
                  <a:moveTo>
                    <a:pt x="0" y="0"/>
                  </a:moveTo>
                  <a:lnTo>
                    <a:pt x="2137537" y="0"/>
                  </a:lnTo>
                  <a:lnTo>
                    <a:pt x="2137537" y="2137537"/>
                  </a:lnTo>
                  <a:lnTo>
                    <a:pt x="0" y="213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759155" y="3024788"/>
            <a:ext cx="1276617" cy="1276617"/>
            <a:chOff x="0" y="0"/>
            <a:chExt cx="1702156" cy="17021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2181" cy="1702181"/>
            </a:xfrm>
            <a:custGeom>
              <a:avLst/>
              <a:gdLst/>
              <a:ahLst/>
              <a:cxnLst/>
              <a:rect r="r" b="b" t="t" l="l"/>
              <a:pathLst>
                <a:path h="1702181" w="1702181">
                  <a:moveTo>
                    <a:pt x="0" y="0"/>
                  </a:moveTo>
                  <a:lnTo>
                    <a:pt x="1702181" y="0"/>
                  </a:lnTo>
                  <a:lnTo>
                    <a:pt x="1702181" y="1702181"/>
                  </a:lnTo>
                  <a:lnTo>
                    <a:pt x="0" y="1702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593150" y="0"/>
            <a:ext cx="1575492" cy="1575492"/>
            <a:chOff x="0" y="0"/>
            <a:chExt cx="2100656" cy="21006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0707" cy="2100707"/>
            </a:xfrm>
            <a:custGeom>
              <a:avLst/>
              <a:gdLst/>
              <a:ahLst/>
              <a:cxnLst/>
              <a:rect r="r" b="b" t="t" l="l"/>
              <a:pathLst>
                <a:path h="2100707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2100707"/>
                  </a:lnTo>
                  <a:lnTo>
                    <a:pt x="0" y="210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38770" y="2911289"/>
            <a:ext cx="5683746" cy="520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Next.js 14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TailwindCSS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Prisma ORM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- NeonDB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NextAuth v5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99385" y="2473139"/>
            <a:ext cx="5004197" cy="608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saas API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Server-Sent Events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LiveKit WebRTC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SDK 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Zod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bcryptjs</a:t>
            </a:r>
          </a:p>
          <a:p>
            <a:pPr algn="l" marL="820421" indent="-410210" lvl="1">
              <a:lnSpc>
                <a:spcPts val="6916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e CSS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53454" y="89592"/>
            <a:ext cx="9997650" cy="1955254"/>
            <a:chOff x="0" y="0"/>
            <a:chExt cx="13330199" cy="26070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0200" cy="2607000"/>
            </a:xfrm>
            <a:custGeom>
              <a:avLst/>
              <a:gdLst/>
              <a:ahLst/>
              <a:cxnLst/>
              <a:rect r="r" b="b" t="t" l="l"/>
              <a:pathLst>
                <a:path h="2607000" w="13330200">
                  <a:moveTo>
                    <a:pt x="0" y="0"/>
                  </a:moveTo>
                  <a:lnTo>
                    <a:pt x="13330200" y="0"/>
                  </a:lnTo>
                  <a:lnTo>
                    <a:pt x="13330200" y="2607000"/>
                  </a:lnTo>
                  <a:lnTo>
                    <a:pt x="0" y="26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631" r="0" b="-496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3330199" cy="2568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b="true" sz="66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Agradecimentos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421023" y="1777937"/>
            <a:ext cx="11009287" cy="664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Nossa equipe quer agradecer a todos que fizeram este projeto acontecer. Aos nossos familiares, pela paciência e suporte durante todo esse percurso. Foi muito bom participar desta experiência, que trouxe aprendizado e crescimento. Agradecemos à instituição por nos receber e abrir espaço para nosso trabalho. E a todos que, de alguma maneira, contribuíram ou nos deram atenção, nosso muito obrigado.</a:t>
            </a:r>
          </a:p>
          <a:p>
            <a:pPr algn="l">
              <a:lnSpc>
                <a:spcPts val="4967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Obrigado pela atenção!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DAHQta28V_M</dc:identifier>
  <dcterms:modified xsi:type="dcterms:W3CDTF">2011-08-01T06:04:30Z</dcterms:modified>
  <cp:revision>1</cp:revision>
  <dc:title>emacrescere</dc:title>
</cp:coreProperties>
</file>